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0"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05A9B6-473C-4211-AEB9-A915E5FE1B7A}" type="doc">
      <dgm:prSet loTypeId="urn:microsoft.com/office/officeart/2005/8/layout/lProcess1" loCatId="process" qsTypeId="urn:microsoft.com/office/officeart/2005/8/quickstyle/simple1" qsCatId="simple" csTypeId="urn:microsoft.com/office/officeart/2005/8/colors/accent0_1" csCatId="mainScheme" phldr="1"/>
      <dgm:spPr/>
      <dgm:t>
        <a:bodyPr/>
        <a:lstStyle/>
        <a:p>
          <a:endParaRPr lang="en-IN"/>
        </a:p>
      </dgm:t>
    </dgm:pt>
    <dgm:pt modelId="{04E6D780-CAB6-4887-8497-87BC68C53D68}">
      <dgm:prSet phldrT="[Text]" custT="1"/>
      <dgm:spPr/>
      <dgm:t>
        <a:bodyPr/>
        <a:lstStyle/>
        <a:p>
          <a:pPr>
            <a:buNone/>
          </a:pPr>
          <a:r>
            <a:rPr lang="en-IN" sz="1600" b="1" dirty="0">
              <a:latin typeface="Times New Roman" panose="02020603050405020304" pitchFamily="18" charset="0"/>
              <a:cs typeface="Times New Roman" panose="02020603050405020304" pitchFamily="18" charset="0"/>
            </a:rPr>
            <a:t>Background:</a:t>
          </a:r>
        </a:p>
      </dgm:t>
    </dgm:pt>
    <dgm:pt modelId="{1840C879-25EB-4D3A-B4A1-FA35987D0F1B}" type="parTrans" cxnId="{3F19907B-EFA0-40A6-AA18-E319E7EE6A66}">
      <dgm:prSet/>
      <dgm:spPr/>
      <dgm:t>
        <a:bodyPr/>
        <a:lstStyle/>
        <a:p>
          <a:endParaRPr lang="en-IN"/>
        </a:p>
      </dgm:t>
    </dgm:pt>
    <dgm:pt modelId="{0939E542-E5C3-43AC-B3C6-2784327AAB57}" type="sibTrans" cxnId="{3F19907B-EFA0-40A6-AA18-E319E7EE6A66}">
      <dgm:prSet/>
      <dgm:spPr/>
      <dgm:t>
        <a:bodyPr/>
        <a:lstStyle/>
        <a:p>
          <a:endParaRPr lang="en-IN"/>
        </a:p>
      </dgm:t>
    </dgm:pt>
    <dgm:pt modelId="{A185AF2C-38DC-4E7B-A1CF-1CC1AC9582D0}">
      <dgm:prSet phldrT="[Text]" custT="1"/>
      <dgm:spPr/>
      <dgm:t>
        <a:bodyPr/>
        <a:lstStyle/>
        <a:p>
          <a:pPr algn="just">
            <a:lnSpc>
              <a:spcPct val="150000"/>
            </a:lnSpc>
          </a:pPr>
          <a:r>
            <a:rPr lang="en-US" sz="1400" dirty="0">
              <a:latin typeface="Times New Roman" panose="02020603050405020304" pitchFamily="18" charset="0"/>
              <a:cs typeface="Times New Roman" panose="02020603050405020304" pitchFamily="18" charset="0"/>
            </a:rPr>
            <a:t>The aviation industry deals with thousands of daily flights, where maintaining punctuality, reliability, and customer satisfaction is a key challenge. The dataset used in this project contains detailed information on flight operations — including flight IDs, airlines, departure and arrival times, delays, cancellations, and routes — representing real-world aviation data.</a:t>
          </a:r>
          <a:endParaRPr lang="en-IN" sz="1400" dirty="0">
            <a:latin typeface="Times New Roman" panose="02020603050405020304" pitchFamily="18" charset="0"/>
            <a:cs typeface="Times New Roman" panose="02020603050405020304" pitchFamily="18" charset="0"/>
          </a:endParaRPr>
        </a:p>
      </dgm:t>
    </dgm:pt>
    <dgm:pt modelId="{B7CDD38C-D263-4593-A8F1-2C74E52EA661}" type="parTrans" cxnId="{784E3696-F280-499E-9936-FFC4F8B82E0B}">
      <dgm:prSet/>
      <dgm:spPr/>
      <dgm:t>
        <a:bodyPr/>
        <a:lstStyle/>
        <a:p>
          <a:endParaRPr lang="en-IN"/>
        </a:p>
      </dgm:t>
    </dgm:pt>
    <dgm:pt modelId="{C3271C0E-1FCE-4138-A65A-B77D5EAE5572}" type="sibTrans" cxnId="{784E3696-F280-499E-9936-FFC4F8B82E0B}">
      <dgm:prSet/>
      <dgm:spPr/>
      <dgm:t>
        <a:bodyPr/>
        <a:lstStyle/>
        <a:p>
          <a:endParaRPr lang="en-IN"/>
        </a:p>
      </dgm:t>
    </dgm:pt>
    <dgm:pt modelId="{97596225-3059-4AEF-A98F-0CE4F618FF27}">
      <dgm:prSet phldrT="[Text]" custT="1"/>
      <dgm:spPr/>
      <dgm:t>
        <a:bodyPr/>
        <a:lstStyle/>
        <a:p>
          <a:r>
            <a:rPr lang="en-IN" sz="1600" b="1" dirty="0">
              <a:latin typeface="Times New Roman" panose="02020603050405020304" pitchFamily="18" charset="0"/>
              <a:cs typeface="Times New Roman" panose="02020603050405020304" pitchFamily="18" charset="0"/>
            </a:rPr>
            <a:t>Significance:</a:t>
          </a:r>
        </a:p>
      </dgm:t>
    </dgm:pt>
    <dgm:pt modelId="{CCD0AC94-4734-4028-B9B3-718442973E40}" type="parTrans" cxnId="{949453FB-1F4D-4912-939A-784BBC6B9174}">
      <dgm:prSet/>
      <dgm:spPr/>
      <dgm:t>
        <a:bodyPr/>
        <a:lstStyle/>
        <a:p>
          <a:endParaRPr lang="en-IN"/>
        </a:p>
      </dgm:t>
    </dgm:pt>
    <dgm:pt modelId="{6FDFC94F-57DE-46CD-BB76-488FC1820AD4}" type="sibTrans" cxnId="{949453FB-1F4D-4912-939A-784BBC6B9174}">
      <dgm:prSet/>
      <dgm:spPr/>
      <dgm:t>
        <a:bodyPr/>
        <a:lstStyle/>
        <a:p>
          <a:endParaRPr lang="en-IN"/>
        </a:p>
      </dgm:t>
    </dgm:pt>
    <dgm:pt modelId="{59103188-7C85-4189-982A-5608C5556D34}">
      <dgm:prSet custT="1"/>
      <dgm:spPr/>
      <dgm:t>
        <a:bodyPr/>
        <a:lstStyle/>
        <a:p>
          <a:pPr algn="just">
            <a:lnSpc>
              <a:spcPct val="150000"/>
            </a:lnSpc>
          </a:pPr>
          <a:r>
            <a:rPr lang="en-US" sz="1400" dirty="0">
              <a:latin typeface="Times New Roman" panose="02020603050405020304" pitchFamily="18" charset="0"/>
              <a:cs typeface="Times New Roman" panose="02020603050405020304" pitchFamily="18" charset="0"/>
            </a:rPr>
            <a:t>Efficient analysis of flight data helps airlines and airport authorities identify patterns of delay, cancellation, and performance differences across regions and time periods. By understanding these trends, decision-makers can improve scheduling efficiency, reduce delay causes, and enhance overall service reliability.</a:t>
          </a:r>
        </a:p>
        <a:p>
          <a:pPr algn="just">
            <a:lnSpc>
              <a:spcPct val="150000"/>
            </a:lnSpc>
          </a:pPr>
          <a:endParaRPr lang="en-IN" sz="1400" dirty="0">
            <a:latin typeface="Times New Roman" panose="02020603050405020304" pitchFamily="18" charset="0"/>
            <a:cs typeface="Times New Roman" panose="02020603050405020304" pitchFamily="18" charset="0"/>
          </a:endParaRPr>
        </a:p>
      </dgm:t>
    </dgm:pt>
    <dgm:pt modelId="{8A4AB5A9-C6A2-4598-A640-D467650490F2}" type="parTrans" cxnId="{523179E2-B2D0-465B-82DE-24F63AB55998}">
      <dgm:prSet/>
      <dgm:spPr/>
      <dgm:t>
        <a:bodyPr/>
        <a:lstStyle/>
        <a:p>
          <a:endParaRPr lang="en-IN"/>
        </a:p>
      </dgm:t>
    </dgm:pt>
    <dgm:pt modelId="{95CDDC24-51EA-4D51-AD0F-926095C6AA83}" type="sibTrans" cxnId="{523179E2-B2D0-465B-82DE-24F63AB55998}">
      <dgm:prSet/>
      <dgm:spPr/>
      <dgm:t>
        <a:bodyPr/>
        <a:lstStyle/>
        <a:p>
          <a:endParaRPr lang="en-IN"/>
        </a:p>
      </dgm:t>
    </dgm:pt>
    <dgm:pt modelId="{67C72157-3229-4490-BC80-39AEF737B45B}" type="pres">
      <dgm:prSet presAssocID="{3A05A9B6-473C-4211-AEB9-A915E5FE1B7A}" presName="Name0" presStyleCnt="0">
        <dgm:presLayoutVars>
          <dgm:dir/>
          <dgm:animLvl val="lvl"/>
          <dgm:resizeHandles val="exact"/>
        </dgm:presLayoutVars>
      </dgm:prSet>
      <dgm:spPr/>
    </dgm:pt>
    <dgm:pt modelId="{084831FA-DC1B-489D-A4A3-3EE8683191BC}" type="pres">
      <dgm:prSet presAssocID="{04E6D780-CAB6-4887-8497-87BC68C53D68}" presName="vertFlow" presStyleCnt="0"/>
      <dgm:spPr/>
    </dgm:pt>
    <dgm:pt modelId="{19A4BAC8-B03B-44C3-8651-C1A1E34C91F8}" type="pres">
      <dgm:prSet presAssocID="{04E6D780-CAB6-4887-8497-87BC68C53D68}" presName="header" presStyleLbl="node1" presStyleIdx="0" presStyleCnt="4" custLinFactY="100000" custLinFactNeighborX="3044" custLinFactNeighborY="158767"/>
      <dgm:spPr/>
    </dgm:pt>
    <dgm:pt modelId="{028EC145-C826-4E4C-BB8D-758721261BB5}" type="pres">
      <dgm:prSet presAssocID="{04E6D780-CAB6-4887-8497-87BC68C53D68}" presName="hSp" presStyleCnt="0"/>
      <dgm:spPr/>
    </dgm:pt>
    <dgm:pt modelId="{130B8BD3-F074-4800-AB1B-BE8F2E81EF90}" type="pres">
      <dgm:prSet presAssocID="{A185AF2C-38DC-4E7B-A1CF-1CC1AC9582D0}" presName="vertFlow" presStyleCnt="0"/>
      <dgm:spPr/>
    </dgm:pt>
    <dgm:pt modelId="{CD292A82-99E2-48C7-8DF5-015968922493}" type="pres">
      <dgm:prSet presAssocID="{A185AF2C-38DC-4E7B-A1CF-1CC1AC9582D0}" presName="header" presStyleLbl="node1" presStyleIdx="1" presStyleCnt="4" custScaleY="641706"/>
      <dgm:spPr/>
    </dgm:pt>
    <dgm:pt modelId="{19DEEE7C-7B12-4C49-958A-CE3FC8A44A50}" type="pres">
      <dgm:prSet presAssocID="{A185AF2C-38DC-4E7B-A1CF-1CC1AC9582D0}" presName="hSp" presStyleCnt="0"/>
      <dgm:spPr/>
    </dgm:pt>
    <dgm:pt modelId="{DB82B0DB-918F-47CD-BCE3-5558AF2FF97F}" type="pres">
      <dgm:prSet presAssocID="{97596225-3059-4AEF-A98F-0CE4F618FF27}" presName="vertFlow" presStyleCnt="0"/>
      <dgm:spPr/>
    </dgm:pt>
    <dgm:pt modelId="{395A86B7-D9A5-4B00-985C-42EF96B81C95}" type="pres">
      <dgm:prSet presAssocID="{97596225-3059-4AEF-A98F-0CE4F618FF27}" presName="header" presStyleLbl="node1" presStyleIdx="2" presStyleCnt="4" custLinFactY="100000" custLinFactNeighborY="151155"/>
      <dgm:spPr/>
    </dgm:pt>
    <dgm:pt modelId="{C26B1B13-D455-41D4-B83F-6A697A468916}" type="pres">
      <dgm:prSet presAssocID="{97596225-3059-4AEF-A98F-0CE4F618FF27}" presName="hSp" presStyleCnt="0"/>
      <dgm:spPr/>
    </dgm:pt>
    <dgm:pt modelId="{4EBACBBB-1169-4FCC-A7C2-6830A0A32E62}" type="pres">
      <dgm:prSet presAssocID="{59103188-7C85-4189-982A-5608C5556D34}" presName="vertFlow" presStyleCnt="0"/>
      <dgm:spPr/>
    </dgm:pt>
    <dgm:pt modelId="{41FA9DB7-18E4-4DE6-8AAE-05BD131C2C51}" type="pres">
      <dgm:prSet presAssocID="{59103188-7C85-4189-982A-5608C5556D34}" presName="header" presStyleLbl="node1" presStyleIdx="3" presStyleCnt="4" custScaleY="605174"/>
      <dgm:spPr/>
    </dgm:pt>
  </dgm:ptLst>
  <dgm:cxnLst>
    <dgm:cxn modelId="{06DFD10A-9A83-44C2-8096-47EA30E486AB}" type="presOf" srcId="{97596225-3059-4AEF-A98F-0CE4F618FF27}" destId="{395A86B7-D9A5-4B00-985C-42EF96B81C95}" srcOrd="0" destOrd="0" presId="urn:microsoft.com/office/officeart/2005/8/layout/lProcess1"/>
    <dgm:cxn modelId="{3F19907B-EFA0-40A6-AA18-E319E7EE6A66}" srcId="{3A05A9B6-473C-4211-AEB9-A915E5FE1B7A}" destId="{04E6D780-CAB6-4887-8497-87BC68C53D68}" srcOrd="0" destOrd="0" parTransId="{1840C879-25EB-4D3A-B4A1-FA35987D0F1B}" sibTransId="{0939E542-E5C3-43AC-B3C6-2784327AAB57}"/>
    <dgm:cxn modelId="{61F1A383-F7D4-4CDB-91B4-6356D20419CF}" type="presOf" srcId="{3A05A9B6-473C-4211-AEB9-A915E5FE1B7A}" destId="{67C72157-3229-4490-BC80-39AEF737B45B}" srcOrd="0" destOrd="0" presId="urn:microsoft.com/office/officeart/2005/8/layout/lProcess1"/>
    <dgm:cxn modelId="{2037EB8C-3BB2-4D64-AB7D-103D3AFEAE7A}" type="presOf" srcId="{59103188-7C85-4189-982A-5608C5556D34}" destId="{41FA9DB7-18E4-4DE6-8AAE-05BD131C2C51}" srcOrd="0" destOrd="0" presId="urn:microsoft.com/office/officeart/2005/8/layout/lProcess1"/>
    <dgm:cxn modelId="{47D7CB92-50D3-423D-B9C4-1237A076EB28}" type="presOf" srcId="{A185AF2C-38DC-4E7B-A1CF-1CC1AC9582D0}" destId="{CD292A82-99E2-48C7-8DF5-015968922493}" srcOrd="0" destOrd="0" presId="urn:microsoft.com/office/officeart/2005/8/layout/lProcess1"/>
    <dgm:cxn modelId="{784E3696-F280-499E-9936-FFC4F8B82E0B}" srcId="{3A05A9B6-473C-4211-AEB9-A915E5FE1B7A}" destId="{A185AF2C-38DC-4E7B-A1CF-1CC1AC9582D0}" srcOrd="1" destOrd="0" parTransId="{B7CDD38C-D263-4593-A8F1-2C74E52EA661}" sibTransId="{C3271C0E-1FCE-4138-A65A-B77D5EAE5572}"/>
    <dgm:cxn modelId="{360D7C9D-827C-44A6-8C91-54D04448FF4F}" type="presOf" srcId="{04E6D780-CAB6-4887-8497-87BC68C53D68}" destId="{19A4BAC8-B03B-44C3-8651-C1A1E34C91F8}" srcOrd="0" destOrd="0" presId="urn:microsoft.com/office/officeart/2005/8/layout/lProcess1"/>
    <dgm:cxn modelId="{523179E2-B2D0-465B-82DE-24F63AB55998}" srcId="{3A05A9B6-473C-4211-AEB9-A915E5FE1B7A}" destId="{59103188-7C85-4189-982A-5608C5556D34}" srcOrd="3" destOrd="0" parTransId="{8A4AB5A9-C6A2-4598-A640-D467650490F2}" sibTransId="{95CDDC24-51EA-4D51-AD0F-926095C6AA83}"/>
    <dgm:cxn modelId="{949453FB-1F4D-4912-939A-784BBC6B9174}" srcId="{3A05A9B6-473C-4211-AEB9-A915E5FE1B7A}" destId="{97596225-3059-4AEF-A98F-0CE4F618FF27}" srcOrd="2" destOrd="0" parTransId="{CCD0AC94-4734-4028-B9B3-718442973E40}" sibTransId="{6FDFC94F-57DE-46CD-BB76-488FC1820AD4}"/>
    <dgm:cxn modelId="{8CFC419B-6632-40DD-B70F-112888487662}" type="presParOf" srcId="{67C72157-3229-4490-BC80-39AEF737B45B}" destId="{084831FA-DC1B-489D-A4A3-3EE8683191BC}" srcOrd="0" destOrd="0" presId="urn:microsoft.com/office/officeart/2005/8/layout/lProcess1"/>
    <dgm:cxn modelId="{745866D3-F3B2-459D-BCB2-2326FCFBBCB6}" type="presParOf" srcId="{084831FA-DC1B-489D-A4A3-3EE8683191BC}" destId="{19A4BAC8-B03B-44C3-8651-C1A1E34C91F8}" srcOrd="0" destOrd="0" presId="urn:microsoft.com/office/officeart/2005/8/layout/lProcess1"/>
    <dgm:cxn modelId="{A18B1441-42E2-4502-9CB3-940E87B5BD90}" type="presParOf" srcId="{67C72157-3229-4490-BC80-39AEF737B45B}" destId="{028EC145-C826-4E4C-BB8D-758721261BB5}" srcOrd="1" destOrd="0" presId="urn:microsoft.com/office/officeart/2005/8/layout/lProcess1"/>
    <dgm:cxn modelId="{00ED4E22-16EE-4C01-AC62-AD4179B7A224}" type="presParOf" srcId="{67C72157-3229-4490-BC80-39AEF737B45B}" destId="{130B8BD3-F074-4800-AB1B-BE8F2E81EF90}" srcOrd="2" destOrd="0" presId="urn:microsoft.com/office/officeart/2005/8/layout/lProcess1"/>
    <dgm:cxn modelId="{9A8C5CBD-A9B6-432D-8CE0-132A1A1EF0F8}" type="presParOf" srcId="{130B8BD3-F074-4800-AB1B-BE8F2E81EF90}" destId="{CD292A82-99E2-48C7-8DF5-015968922493}" srcOrd="0" destOrd="0" presId="urn:microsoft.com/office/officeart/2005/8/layout/lProcess1"/>
    <dgm:cxn modelId="{94F41E75-B445-4202-87B8-E0A6A5198A18}" type="presParOf" srcId="{67C72157-3229-4490-BC80-39AEF737B45B}" destId="{19DEEE7C-7B12-4C49-958A-CE3FC8A44A50}" srcOrd="3" destOrd="0" presId="urn:microsoft.com/office/officeart/2005/8/layout/lProcess1"/>
    <dgm:cxn modelId="{2F299CEB-BDFC-494E-A2C1-031C0C4FFB9E}" type="presParOf" srcId="{67C72157-3229-4490-BC80-39AEF737B45B}" destId="{DB82B0DB-918F-47CD-BCE3-5558AF2FF97F}" srcOrd="4" destOrd="0" presId="urn:microsoft.com/office/officeart/2005/8/layout/lProcess1"/>
    <dgm:cxn modelId="{0F7B5CFC-AFBA-4560-A114-6302C67E4FDA}" type="presParOf" srcId="{DB82B0DB-918F-47CD-BCE3-5558AF2FF97F}" destId="{395A86B7-D9A5-4B00-985C-42EF96B81C95}" srcOrd="0" destOrd="0" presId="urn:microsoft.com/office/officeart/2005/8/layout/lProcess1"/>
    <dgm:cxn modelId="{4D4FAEB2-B62A-4137-AE28-23AD2E64BDD5}" type="presParOf" srcId="{67C72157-3229-4490-BC80-39AEF737B45B}" destId="{C26B1B13-D455-41D4-B83F-6A697A468916}" srcOrd="5" destOrd="0" presId="urn:microsoft.com/office/officeart/2005/8/layout/lProcess1"/>
    <dgm:cxn modelId="{2B237576-2942-426B-8E16-0090D0C4328B}" type="presParOf" srcId="{67C72157-3229-4490-BC80-39AEF737B45B}" destId="{4EBACBBB-1169-4FCC-A7C2-6830A0A32E62}" srcOrd="6" destOrd="0" presId="urn:microsoft.com/office/officeart/2005/8/layout/lProcess1"/>
    <dgm:cxn modelId="{1A01F1EE-9D2E-463B-9004-FB6185B4992A}" type="presParOf" srcId="{4EBACBBB-1169-4FCC-A7C2-6830A0A32E62}" destId="{41FA9DB7-18E4-4DE6-8AAE-05BD131C2C51}" srcOrd="0"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A4BAC8-B03B-44C3-8651-C1A1E34C91F8}">
      <dsp:nvSpPr>
        <dsp:cNvPr id="0" name=""/>
        <dsp:cNvSpPr/>
      </dsp:nvSpPr>
      <dsp:spPr>
        <a:xfrm>
          <a:off x="79319" y="2460023"/>
          <a:ext cx="2584568" cy="646142"/>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Background:</a:t>
          </a:r>
        </a:p>
      </dsp:txBody>
      <dsp:txXfrm>
        <a:off x="98244" y="2478948"/>
        <a:ext cx="2546718" cy="608292"/>
      </dsp:txXfrm>
    </dsp:sp>
    <dsp:sp modelId="{CD292A82-99E2-48C7-8DF5-015968922493}">
      <dsp:nvSpPr>
        <dsp:cNvPr id="0" name=""/>
        <dsp:cNvSpPr/>
      </dsp:nvSpPr>
      <dsp:spPr>
        <a:xfrm>
          <a:off x="2947053" y="788020"/>
          <a:ext cx="2584568" cy="4146332"/>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just" defTabSz="622300">
            <a:lnSpc>
              <a:spcPct val="15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The aviation industry deals with thousands of daily flights, where maintaining punctuality, reliability, and customer satisfaction is a key challenge. The dataset used in this project contains detailed information on flight operations — including flight IDs, airlines, departure and arrival times, delays, cancellations, and routes — representing real-world aviation data.</a:t>
          </a:r>
          <a:endParaRPr lang="en-IN" sz="1400" kern="1200" dirty="0">
            <a:latin typeface="Times New Roman" panose="02020603050405020304" pitchFamily="18" charset="0"/>
            <a:cs typeface="Times New Roman" panose="02020603050405020304" pitchFamily="18" charset="0"/>
          </a:endParaRPr>
        </a:p>
      </dsp:txBody>
      <dsp:txXfrm>
        <a:off x="3022752" y="863719"/>
        <a:ext cx="2433170" cy="3994934"/>
      </dsp:txXfrm>
    </dsp:sp>
    <dsp:sp modelId="{395A86B7-D9A5-4B00-985C-42EF96B81C95}">
      <dsp:nvSpPr>
        <dsp:cNvPr id="0" name=""/>
        <dsp:cNvSpPr/>
      </dsp:nvSpPr>
      <dsp:spPr>
        <a:xfrm>
          <a:off x="5893461" y="2410838"/>
          <a:ext cx="2584568" cy="646142"/>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Significance:</a:t>
          </a:r>
        </a:p>
      </dsp:txBody>
      <dsp:txXfrm>
        <a:off x="5912386" y="2429763"/>
        <a:ext cx="2546718" cy="608292"/>
      </dsp:txXfrm>
    </dsp:sp>
    <dsp:sp modelId="{41FA9DB7-18E4-4DE6-8AAE-05BD131C2C51}">
      <dsp:nvSpPr>
        <dsp:cNvPr id="0" name=""/>
        <dsp:cNvSpPr/>
      </dsp:nvSpPr>
      <dsp:spPr>
        <a:xfrm>
          <a:off x="8839869" y="788020"/>
          <a:ext cx="2584568" cy="39102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just" defTabSz="622300">
            <a:lnSpc>
              <a:spcPct val="15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Efficient analysis of flight data helps airlines and airport authorities identify patterns of delay, cancellation, and performance differences across regions and time periods. By understanding these trends, decision-makers can improve scheduling efficiency, reduce delay causes, and enhance overall service reliability.</a:t>
          </a:r>
        </a:p>
        <a:p>
          <a:pPr marL="0" lvl="0" indent="0" algn="just" defTabSz="622300">
            <a:lnSpc>
              <a:spcPct val="150000"/>
            </a:lnSpc>
            <a:spcBef>
              <a:spcPct val="0"/>
            </a:spcBef>
            <a:spcAft>
              <a:spcPct val="35000"/>
            </a:spcAft>
            <a:buNone/>
          </a:pPr>
          <a:endParaRPr lang="en-IN" sz="1400" kern="1200" dirty="0">
            <a:latin typeface="Times New Roman" panose="02020603050405020304" pitchFamily="18" charset="0"/>
            <a:cs typeface="Times New Roman" panose="02020603050405020304" pitchFamily="18" charset="0"/>
          </a:endParaRPr>
        </a:p>
      </dsp:txBody>
      <dsp:txXfrm>
        <a:off x="8915568" y="863719"/>
        <a:ext cx="2433170" cy="3758885"/>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D1763053-1685-4323-B42B-A3BF029B4F51}" type="datetimeFigureOut">
              <a:rPr lang="en-IN" smtClean="0"/>
              <a:t>12-12-2025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2349085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763053-1685-4323-B42B-A3BF029B4F51}"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1605343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763053-1685-4323-B42B-A3BF029B4F51}"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406890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763053-1685-4323-B42B-A3BF029B4F51}"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355501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1763053-1685-4323-B42B-A3BF029B4F51}" type="datetimeFigureOut">
              <a:rPr lang="en-IN" smtClean="0"/>
              <a:t>12-12-2025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1943638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1763053-1685-4323-B42B-A3BF029B4F51}" type="datetimeFigureOut">
              <a:rPr lang="en-IN" smtClean="0"/>
              <a:t>12-12-2025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2361692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763053-1685-4323-B42B-A3BF029B4F51}" type="datetimeFigureOut">
              <a:rPr lang="en-IN" smtClean="0"/>
              <a:t>12-12-2025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1367010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763053-1685-4323-B42B-A3BF029B4F51}"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2408841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763053-1685-4323-B42B-A3BF029B4F51}"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1990209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763053-1685-4323-B42B-A3BF029B4F51}"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4186669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763053-1685-4323-B42B-A3BF029B4F51}"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10150788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763053-1685-4323-B42B-A3BF029B4F51}"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947528-F853-47F3-8D3E-84E787F81398}" type="slidenum">
              <a:rPr lang="en-IN" smtClean="0"/>
              <a:t>‹#›</a:t>
            </a:fld>
            <a:endParaRPr lang="en-IN"/>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346476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763053-1685-4323-B42B-A3BF029B4F51}"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31882204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1763053-1685-4323-B42B-A3BF029B4F51}" type="datetimeFigureOut">
              <a:rPr lang="en-IN" smtClean="0"/>
              <a:t>12-12-2025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12490636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1763053-1685-4323-B42B-A3BF029B4F51}" type="datetimeFigureOut">
              <a:rPr lang="en-IN" smtClean="0"/>
              <a:t>12-12-2025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41801327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763053-1685-4323-B42B-A3BF029B4F51}"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2475843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763053-1685-4323-B42B-A3BF029B4F51}"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947528-F853-47F3-8D3E-84E787F81398}" type="slidenum">
              <a:rPr lang="en-IN" smtClean="0"/>
              <a:t>‹#›</a:t>
            </a:fld>
            <a:endParaRPr lang="en-IN"/>
          </a:p>
        </p:txBody>
      </p:sp>
    </p:spTree>
    <p:extLst>
      <p:ext uri="{BB962C8B-B14F-4D97-AF65-F5344CB8AC3E}">
        <p14:creationId xmlns:p14="http://schemas.microsoft.com/office/powerpoint/2010/main" val="1075982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1763053-1685-4323-B42B-A3BF029B4F51}" type="datetimeFigureOut">
              <a:rPr lang="en-IN" smtClean="0"/>
              <a:t>12-12-2025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A9947528-F853-47F3-8D3E-84E787F81398}" type="slidenum">
              <a:rPr lang="en-IN" smtClean="0"/>
              <a:t>‹#›</a:t>
            </a:fld>
            <a:endParaRPr lang="en-IN"/>
          </a:p>
        </p:txBody>
      </p:sp>
    </p:spTree>
    <p:extLst>
      <p:ext uri="{BB962C8B-B14F-4D97-AF65-F5344CB8AC3E}">
        <p14:creationId xmlns:p14="http://schemas.microsoft.com/office/powerpoint/2010/main" val="247885244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DD464-9D32-5D49-AB28-F2A11C5F752D}"/>
              </a:ext>
            </a:extLst>
          </p:cNvPr>
          <p:cNvSpPr>
            <a:spLocks noGrp="1"/>
          </p:cNvSpPr>
          <p:nvPr>
            <p:ph type="ctrTitle"/>
          </p:nvPr>
        </p:nvSpPr>
        <p:spPr>
          <a:xfrm>
            <a:off x="723900" y="2959508"/>
            <a:ext cx="10744200" cy="3657601"/>
          </a:xfrm>
        </p:spPr>
        <p:txBody>
          <a:bodyPr>
            <a:noAutofit/>
          </a:bodyPr>
          <a:lstStyle/>
          <a:p>
            <a:pPr algn="ctr">
              <a:lnSpc>
                <a:spcPct val="150000"/>
              </a:lnSpc>
            </a:pPr>
            <a:r>
              <a:rPr lang="en-US" sz="3600" dirty="0">
                <a:solidFill>
                  <a:schemeClr val="accent2">
                    <a:lumMod val="60000"/>
                    <a:lumOff val="40000"/>
                  </a:schemeClr>
                </a:solidFill>
                <a:latin typeface="Times New Roman" panose="02020603050405020304" pitchFamily="18" charset="0"/>
                <a:cs typeface="Times New Roman" panose="02020603050405020304" pitchFamily="18" charset="0"/>
              </a:rPr>
              <a:t>DEBARUN BANERJEE</a:t>
            </a:r>
            <a:br>
              <a:rPr lang="en-US" sz="3600" dirty="0">
                <a:solidFill>
                  <a:schemeClr val="accent2">
                    <a:lumMod val="60000"/>
                    <a:lumOff val="40000"/>
                  </a:schemeClr>
                </a:solidFill>
                <a:latin typeface="Times New Roman" panose="02020603050405020304" pitchFamily="18" charset="0"/>
                <a:cs typeface="Times New Roman" panose="02020603050405020304" pitchFamily="18" charset="0"/>
              </a:rPr>
            </a:br>
            <a:r>
              <a:rPr lang="en-US" sz="3600" dirty="0">
                <a:solidFill>
                  <a:schemeClr val="accent2">
                    <a:lumMod val="60000"/>
                    <a:lumOff val="40000"/>
                  </a:schemeClr>
                </a:solidFill>
                <a:latin typeface="Times New Roman" panose="02020603050405020304" pitchFamily="18" charset="0"/>
                <a:cs typeface="Times New Roman" panose="02020603050405020304" pitchFamily="18" charset="0"/>
              </a:rPr>
              <a:t>Data Analytics</a:t>
            </a:r>
            <a:br>
              <a:rPr lang="en-US" sz="3600" dirty="0">
                <a:solidFill>
                  <a:schemeClr val="accent2">
                    <a:lumMod val="60000"/>
                    <a:lumOff val="40000"/>
                  </a:schemeClr>
                </a:solidFill>
                <a:latin typeface="Times New Roman" panose="02020603050405020304" pitchFamily="18" charset="0"/>
                <a:cs typeface="Times New Roman" panose="02020603050405020304" pitchFamily="18" charset="0"/>
              </a:rPr>
            </a:br>
            <a:r>
              <a:rPr lang="en-US" sz="3600" dirty="0">
                <a:solidFill>
                  <a:schemeClr val="accent2">
                    <a:lumMod val="60000"/>
                    <a:lumOff val="40000"/>
                  </a:schemeClr>
                </a:solidFill>
                <a:latin typeface="Times New Roman" panose="02020603050405020304" pitchFamily="18" charset="0"/>
                <a:cs typeface="Times New Roman" panose="02020603050405020304" pitchFamily="18" charset="0"/>
              </a:rPr>
              <a:t>Batch: WTS-ACDMY-7979-5280</a:t>
            </a:r>
            <a:br>
              <a:rPr lang="en-US" sz="3600" dirty="0">
                <a:solidFill>
                  <a:schemeClr val="accent2">
                    <a:lumMod val="60000"/>
                    <a:lumOff val="40000"/>
                  </a:schemeClr>
                </a:solidFill>
                <a:latin typeface="Times New Roman" panose="02020603050405020304" pitchFamily="18" charset="0"/>
                <a:cs typeface="Times New Roman" panose="02020603050405020304" pitchFamily="18" charset="0"/>
              </a:rPr>
            </a:br>
            <a:r>
              <a:rPr lang="en-US" sz="3600" dirty="0">
                <a:solidFill>
                  <a:schemeClr val="accent2">
                    <a:lumMod val="60000"/>
                    <a:lumOff val="40000"/>
                  </a:schemeClr>
                </a:solidFill>
                <a:latin typeface="Times New Roman" panose="02020603050405020304" pitchFamily="18" charset="0"/>
                <a:cs typeface="Times New Roman" panose="02020603050405020304" pitchFamily="18" charset="0"/>
              </a:rPr>
              <a:t>Student ID: WAPL30052520769</a:t>
            </a:r>
            <a:endParaRPr lang="en-IN" sz="3600"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B920C50-20F2-65EA-9189-CE19CA789913}"/>
              </a:ext>
            </a:extLst>
          </p:cNvPr>
          <p:cNvSpPr>
            <a:spLocks noGrp="1"/>
          </p:cNvSpPr>
          <p:nvPr>
            <p:ph type="subTitle" idx="1"/>
          </p:nvPr>
        </p:nvSpPr>
        <p:spPr>
          <a:xfrm>
            <a:off x="363794" y="467347"/>
            <a:ext cx="11326761" cy="1853066"/>
          </a:xfrm>
        </p:spPr>
        <p:txBody>
          <a:bodyPr>
            <a:normAutofit/>
          </a:bodyPr>
          <a:lstStyle/>
          <a:p>
            <a:pPr algn="ctr"/>
            <a:r>
              <a:rPr lang="en-US" sz="5400" dirty="0">
                <a:latin typeface="Times New Roman" panose="02020603050405020304" pitchFamily="18" charset="0"/>
                <a:cs typeface="Times New Roman" panose="02020603050405020304" pitchFamily="18" charset="0"/>
              </a:rPr>
              <a:t>Flight Performance and Reliability Dashboard</a:t>
            </a:r>
            <a:endParaRPr lang="en-IN"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2895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ABD4C-0C7B-BD75-8B9B-2A3DFE5FB7F8}"/>
              </a:ext>
            </a:extLst>
          </p:cNvPr>
          <p:cNvSpPr>
            <a:spLocks noGrp="1"/>
          </p:cNvSpPr>
          <p:nvPr>
            <p:ph type="title"/>
          </p:nvPr>
        </p:nvSpPr>
        <p:spPr>
          <a:xfrm>
            <a:off x="759541" y="-57654"/>
            <a:ext cx="10515600" cy="1325563"/>
          </a:xfrm>
        </p:spPr>
        <p:txBody>
          <a:bodyPr>
            <a:normAutofit/>
          </a:bodyPr>
          <a:lstStyle/>
          <a:p>
            <a:r>
              <a:rPr lang="en-US" sz="4400" b="1" dirty="0">
                <a:latin typeface="Times New Roman" panose="02020603050405020304" pitchFamily="18" charset="0"/>
                <a:cs typeface="Times New Roman" panose="02020603050405020304" pitchFamily="18" charset="0"/>
              </a:rPr>
              <a:t>Introduction</a:t>
            </a:r>
            <a:endParaRPr lang="en-IN" sz="44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0E803EE3-709D-5A30-2C5F-9427D4DCD4E7}"/>
              </a:ext>
            </a:extLst>
          </p:cNvPr>
          <p:cNvGraphicFramePr>
            <a:graphicFrameLocks noGrp="1"/>
          </p:cNvGraphicFramePr>
          <p:nvPr>
            <p:ph idx="1"/>
            <p:extLst>
              <p:ext uri="{D42A27DB-BD31-4B8C-83A1-F6EECF244321}">
                <p14:modId xmlns:p14="http://schemas.microsoft.com/office/powerpoint/2010/main" val="2062446590"/>
              </p:ext>
            </p:extLst>
          </p:nvPr>
        </p:nvGraphicFramePr>
        <p:xfrm>
          <a:off x="383458" y="963561"/>
          <a:ext cx="11425083" cy="57223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486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0E2C8-B86F-9E85-6C7D-398BE2C841DA}"/>
              </a:ext>
            </a:extLst>
          </p:cNvPr>
          <p:cNvSpPr>
            <a:spLocks noGrp="1"/>
          </p:cNvSpPr>
          <p:nvPr>
            <p:ph type="title"/>
          </p:nvPr>
        </p:nvSpPr>
        <p:spPr>
          <a:xfrm>
            <a:off x="621891" y="119319"/>
            <a:ext cx="11166986" cy="1021223"/>
          </a:xfrm>
        </p:spPr>
        <p:txBody>
          <a:bodyPr>
            <a:normAutofit/>
          </a:bodyPr>
          <a:lstStyle/>
          <a:p>
            <a:r>
              <a:rPr lang="en-US" sz="4400" b="1" dirty="0">
                <a:latin typeface="Times New Roman" panose="02020603050405020304" pitchFamily="18" charset="0"/>
                <a:cs typeface="Times New Roman" panose="02020603050405020304" pitchFamily="18" charset="0"/>
              </a:rPr>
              <a:t>Problem Statements</a:t>
            </a:r>
            <a:endParaRPr lang="en-IN" sz="4400" b="1"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1E720FAB-5918-496E-92F5-BC060210E7B7}"/>
              </a:ext>
            </a:extLst>
          </p:cNvPr>
          <p:cNvSpPr/>
          <p:nvPr/>
        </p:nvSpPr>
        <p:spPr>
          <a:xfrm>
            <a:off x="556752" y="2802186"/>
            <a:ext cx="11078496" cy="904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u="sng" dirty="0">
                <a:latin typeface="Times New Roman" panose="02020603050405020304" pitchFamily="18" charset="0"/>
                <a:cs typeface="Times New Roman" panose="02020603050405020304" pitchFamily="18" charset="0"/>
              </a:rPr>
              <a:t>✔ Problem Statement 2</a:t>
            </a:r>
          </a:p>
          <a:p>
            <a:r>
              <a:rPr lang="en-US" sz="2000" dirty="0">
                <a:latin typeface="Times New Roman" panose="02020603050405020304" pitchFamily="18" charset="0"/>
                <a:cs typeface="Times New Roman" panose="02020603050405020304" pitchFamily="18" charset="0"/>
              </a:rPr>
              <a:t>Cancellation rates vary across carriers and routes, but the specific airlines or paths contributing most to cancellations are unclear.</a:t>
            </a:r>
          </a:p>
        </p:txBody>
      </p:sp>
      <p:sp>
        <p:nvSpPr>
          <p:cNvPr id="8" name="Rectangle 7">
            <a:extLst>
              <a:ext uri="{FF2B5EF4-FFF2-40B4-BE49-F238E27FC236}">
                <a16:creationId xmlns:a16="http://schemas.microsoft.com/office/drawing/2014/main" id="{5CEE0344-5D8D-542C-3091-25498F7F3572}"/>
              </a:ext>
            </a:extLst>
          </p:cNvPr>
          <p:cNvSpPr/>
          <p:nvPr/>
        </p:nvSpPr>
        <p:spPr>
          <a:xfrm>
            <a:off x="556752" y="4198368"/>
            <a:ext cx="11078496" cy="904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u="sng" dirty="0">
                <a:latin typeface="Times New Roman" panose="02020603050405020304" pitchFamily="18" charset="0"/>
                <a:cs typeface="Times New Roman" panose="02020603050405020304" pitchFamily="18" charset="0"/>
              </a:rPr>
              <a:t>✔ Problem Statement 3</a:t>
            </a:r>
          </a:p>
          <a:p>
            <a:r>
              <a:rPr lang="en-US" sz="2000" dirty="0">
                <a:latin typeface="Times New Roman" panose="02020603050405020304" pitchFamily="18" charset="0"/>
                <a:cs typeface="Times New Roman" panose="02020603050405020304" pitchFamily="18" charset="0"/>
              </a:rPr>
              <a:t>Flight performance fluctuates across different hours, days, and months, yet these time-based variations are not clearly identified.</a:t>
            </a:r>
          </a:p>
        </p:txBody>
      </p:sp>
      <p:sp>
        <p:nvSpPr>
          <p:cNvPr id="9" name="Rectangle 8">
            <a:extLst>
              <a:ext uri="{FF2B5EF4-FFF2-40B4-BE49-F238E27FC236}">
                <a16:creationId xmlns:a16="http://schemas.microsoft.com/office/drawing/2014/main" id="{7A839AAD-A912-9BCC-0916-6A92BC405625}"/>
              </a:ext>
            </a:extLst>
          </p:cNvPr>
          <p:cNvSpPr/>
          <p:nvPr/>
        </p:nvSpPr>
        <p:spPr>
          <a:xfrm>
            <a:off x="556752" y="5594550"/>
            <a:ext cx="11078496" cy="10323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u="sng" dirty="0">
                <a:latin typeface="Times New Roman" panose="02020603050405020304" pitchFamily="18" charset="0"/>
                <a:cs typeface="Times New Roman" panose="02020603050405020304" pitchFamily="18" charset="0"/>
              </a:rPr>
              <a:t>✔ Problem Statement 4</a:t>
            </a:r>
          </a:p>
          <a:p>
            <a:r>
              <a:rPr lang="en-US" sz="2000" dirty="0">
                <a:latin typeface="Times New Roman" panose="02020603050405020304" pitchFamily="18" charset="0"/>
                <a:cs typeface="Times New Roman" panose="02020603050405020304" pitchFamily="18" charset="0"/>
              </a:rPr>
              <a:t>Operational efficiency among airlines differs, but there is no clear comparison showing which carriers perform better in terms of delays and on-time performance.</a:t>
            </a:r>
          </a:p>
        </p:txBody>
      </p:sp>
      <p:sp>
        <p:nvSpPr>
          <p:cNvPr id="11" name="Rectangle 10">
            <a:extLst>
              <a:ext uri="{FF2B5EF4-FFF2-40B4-BE49-F238E27FC236}">
                <a16:creationId xmlns:a16="http://schemas.microsoft.com/office/drawing/2014/main" id="{DEE819F1-5DBE-0C68-BD81-DE0065070EFF}"/>
              </a:ext>
            </a:extLst>
          </p:cNvPr>
          <p:cNvSpPr/>
          <p:nvPr/>
        </p:nvSpPr>
        <p:spPr>
          <a:xfrm>
            <a:off x="556752" y="1406004"/>
            <a:ext cx="11078496" cy="904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u="sng" dirty="0">
                <a:latin typeface="Times New Roman" panose="02020603050405020304" pitchFamily="18" charset="0"/>
                <a:cs typeface="Times New Roman" panose="02020603050405020304" pitchFamily="18" charset="0"/>
              </a:rPr>
              <a:t>✔ Problem Statement 1</a:t>
            </a:r>
          </a:p>
          <a:p>
            <a:r>
              <a:rPr lang="en-US" sz="2000" dirty="0">
                <a:latin typeface="Times New Roman" panose="02020603050405020304" pitchFamily="18" charset="0"/>
                <a:cs typeface="Times New Roman" panose="02020603050405020304" pitchFamily="18" charset="0"/>
              </a:rPr>
              <a:t>Flight delay and punctuality patterns are inconsistent across airlines, cities, and regions, making it difficult to understand where and why delays occur.</a:t>
            </a:r>
            <a:endParaRPr lang="en-US" sz="20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2890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448DD-A65A-4D81-42EE-D80363EDD506}"/>
              </a:ext>
            </a:extLst>
          </p:cNvPr>
          <p:cNvSpPr>
            <a:spLocks noGrp="1"/>
          </p:cNvSpPr>
          <p:nvPr>
            <p:ph type="title"/>
          </p:nvPr>
        </p:nvSpPr>
        <p:spPr>
          <a:xfrm>
            <a:off x="385916" y="365125"/>
            <a:ext cx="10515600" cy="1325563"/>
          </a:xfrm>
        </p:spPr>
        <p:txBody>
          <a:bodyPr>
            <a:normAutofit/>
          </a:bodyPr>
          <a:lstStyle/>
          <a:p>
            <a:r>
              <a:rPr lang="en-IN" sz="4400" b="1" dirty="0">
                <a:latin typeface="Times New Roman" panose="02020603050405020304" pitchFamily="18" charset="0"/>
                <a:cs typeface="Times New Roman" panose="02020603050405020304" pitchFamily="18" charset="0"/>
              </a:rPr>
              <a:t>Objectives of the Analysis</a:t>
            </a:r>
          </a:p>
        </p:txBody>
      </p:sp>
      <p:sp>
        <p:nvSpPr>
          <p:cNvPr id="5" name="Rectangle 1">
            <a:extLst>
              <a:ext uri="{FF2B5EF4-FFF2-40B4-BE49-F238E27FC236}">
                <a16:creationId xmlns:a16="http://schemas.microsoft.com/office/drawing/2014/main" id="{D8C77BD0-2C59-4705-09E3-B7D7260984F2}"/>
              </a:ext>
            </a:extLst>
          </p:cNvPr>
          <p:cNvSpPr>
            <a:spLocks noGrp="1" noChangeArrowheads="1"/>
          </p:cNvSpPr>
          <p:nvPr>
            <p:ph idx="1"/>
          </p:nvPr>
        </p:nvSpPr>
        <p:spPr bwMode="auto">
          <a:xfrm>
            <a:off x="273166" y="2318314"/>
            <a:ext cx="6393106" cy="3730317"/>
          </a:xfrm>
          <a:prstGeom prst="rect">
            <a:avLst/>
          </a:prstGeom>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lang="en-US" altLang="en-US" sz="2000" b="1" dirty="0">
                <a:solidFill>
                  <a:schemeClr val="tx1"/>
                </a:solidFill>
                <a:latin typeface="Times New Roman" panose="02020603050405020304" pitchFamily="18" charset="0"/>
                <a:cs typeface="Times New Roman" panose="02020603050405020304" pitchFamily="18" charset="0"/>
              </a:rPr>
              <a:t>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nalyze flight punctuality and delay patterns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across airlines, cities, and regions using pivot tables and charts.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lang="en-US" altLang="en-US" sz="2000" b="1" dirty="0">
                <a:solidFill>
                  <a:schemeClr val="tx1"/>
                </a:solidFill>
                <a:latin typeface="Times New Roman" panose="02020603050405020304" pitchFamily="18" charset="0"/>
                <a:cs typeface="Times New Roman" panose="02020603050405020304" pitchFamily="18" charset="0"/>
              </a:rPr>
              <a:t>i</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dentify cancellation trends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find which airlines or routes have higher cancellation rates.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lang="en-US" altLang="en-US" sz="2000" b="1" dirty="0">
                <a:solidFill>
                  <a:schemeClr val="tx1"/>
                </a:solidFill>
                <a:latin typeface="Times New Roman" panose="02020603050405020304" pitchFamily="18" charset="0"/>
                <a:cs typeface="Times New Roman" panose="02020603050405020304" pitchFamily="18" charset="0"/>
              </a:rPr>
              <a:t>e</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xamine performance variations by time period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(hour of departure, day of week, month, etc.).</a:t>
            </a:r>
          </a:p>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sz="2000" b="1" dirty="0">
                <a:solidFill>
                  <a:schemeClr val="tx1"/>
                </a:solidFill>
                <a:latin typeface="Times New Roman" panose="02020603050405020304" pitchFamily="18" charset="0"/>
                <a:cs typeface="Times New Roman" panose="02020603050405020304" pitchFamily="18" charset="0"/>
              </a:rPr>
              <a:t>To c</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ompare operational efficiency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among airlines based on average delay and on-time performance.</a:t>
            </a:r>
          </a:p>
        </p:txBody>
      </p:sp>
      <p:pic>
        <p:nvPicPr>
          <p:cNvPr id="1027" name="Picture 3" descr="How To Set Objectives That Won't Be ...">
            <a:extLst>
              <a:ext uri="{FF2B5EF4-FFF2-40B4-BE49-F238E27FC236}">
                <a16:creationId xmlns:a16="http://schemas.microsoft.com/office/drawing/2014/main" id="{2FDA303D-C067-20B6-6229-884DBCD1CA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9707" y="2910503"/>
            <a:ext cx="3941821" cy="244807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68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B978-D89E-C08E-5143-4D05E9987FD0}"/>
              </a:ext>
            </a:extLst>
          </p:cNvPr>
          <p:cNvSpPr>
            <a:spLocks noGrp="1"/>
          </p:cNvSpPr>
          <p:nvPr>
            <p:ph type="title"/>
          </p:nvPr>
        </p:nvSpPr>
        <p:spPr>
          <a:xfrm>
            <a:off x="372748" y="296097"/>
            <a:ext cx="10515600" cy="1325563"/>
          </a:xfrm>
        </p:spPr>
        <p:txBody>
          <a:bodyPr>
            <a:normAutofit/>
          </a:bodyPr>
          <a:lstStyle/>
          <a:p>
            <a:r>
              <a:rPr lang="en-US" sz="4400" b="1" dirty="0">
                <a:latin typeface="Times New Roman" panose="02020603050405020304" pitchFamily="18" charset="0"/>
                <a:cs typeface="Times New Roman" panose="02020603050405020304" pitchFamily="18" charset="0"/>
              </a:rPr>
              <a:t>About the Dataset</a:t>
            </a:r>
            <a:endParaRPr lang="en-IN" sz="4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5A50B9E-2471-1AA3-45C2-F6722D3E4F0F}"/>
              </a:ext>
            </a:extLst>
          </p:cNvPr>
          <p:cNvSpPr>
            <a:spLocks noGrp="1"/>
          </p:cNvSpPr>
          <p:nvPr>
            <p:ph idx="1"/>
          </p:nvPr>
        </p:nvSpPr>
        <p:spPr>
          <a:xfrm>
            <a:off x="372748" y="1690688"/>
            <a:ext cx="4553213" cy="2448693"/>
          </a:xfrm>
        </p:spPr>
        <p:style>
          <a:lnRef idx="1">
            <a:schemeClr val="accent2"/>
          </a:lnRef>
          <a:fillRef idx="2">
            <a:schemeClr val="accent2"/>
          </a:fillRef>
          <a:effectRef idx="1">
            <a:schemeClr val="accent2"/>
          </a:effectRef>
          <a:fontRef idx="minor">
            <a:schemeClr val="dk1"/>
          </a:fontRef>
        </p:style>
        <p:txBody>
          <a:bodyPr>
            <a:normAutofit fontScale="92500" lnSpcReduction="20000"/>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dataset contains detailed flight operation records used for analyzing airline performance and punctuality. It includes around </a:t>
            </a:r>
            <a:r>
              <a:rPr lang="en-US" sz="2000" b="1" dirty="0">
                <a:latin typeface="Times New Roman" panose="02020603050405020304" pitchFamily="18" charset="0"/>
                <a:cs typeface="Times New Roman" panose="02020603050405020304" pitchFamily="18" charset="0"/>
              </a:rPr>
              <a:t>10, 000 rows and 37 columns</a:t>
            </a:r>
            <a:r>
              <a:rPr lang="en-US" sz="2000" dirty="0">
                <a:latin typeface="Times New Roman" panose="02020603050405020304" pitchFamily="18" charset="0"/>
                <a:cs typeface="Times New Roman" panose="02020603050405020304" pitchFamily="18" charset="0"/>
              </a:rPr>
              <a:t>, covering key aspects of flight schedules, delays, and cancellations.</a:t>
            </a:r>
            <a:endParaRPr lang="en-IN" sz="2000" dirty="0">
              <a:latin typeface="Times New Roman" panose="02020603050405020304" pitchFamily="18" charset="0"/>
              <a:cs typeface="Times New Roman" panose="02020603050405020304" pitchFamily="18" charset="0"/>
            </a:endParaRPr>
          </a:p>
        </p:txBody>
      </p:sp>
      <p:sp>
        <p:nvSpPr>
          <p:cNvPr id="10" name="Rectangle 3">
            <a:extLst>
              <a:ext uri="{FF2B5EF4-FFF2-40B4-BE49-F238E27FC236}">
                <a16:creationId xmlns:a16="http://schemas.microsoft.com/office/drawing/2014/main" id="{87964268-2840-8C71-136D-27A882B403C5}"/>
              </a:ext>
            </a:extLst>
          </p:cNvPr>
          <p:cNvSpPr>
            <a:spLocks noChangeArrowheads="1"/>
          </p:cNvSpPr>
          <p:nvPr/>
        </p:nvSpPr>
        <p:spPr bwMode="auto">
          <a:xfrm>
            <a:off x="4832116" y="4285932"/>
            <a:ext cx="7256207" cy="2345322"/>
          </a:xfrm>
          <a:prstGeom prst="rect">
            <a:avLst/>
          </a:prstGeom>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Date, Region, City, Airline</a:t>
            </a:r>
            <a:r>
              <a:rPr lang="en-US" altLang="en-US" sz="2000" dirty="0">
                <a:latin typeface="Times New Roman" panose="02020603050405020304" pitchFamily="18" charset="0"/>
                <a:cs typeface="Times New Roman" panose="02020603050405020304" pitchFamily="18" charset="0"/>
              </a:rPr>
              <a:t> – operational and geographical details.</a:t>
            </a:r>
          </a:p>
          <a:p>
            <a:pPr lvl="0" algn="just" defTabSz="914400" eaLnBrk="0" fontAlgn="base" hangingPunct="0">
              <a:lnSpc>
                <a:spcPct val="15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Departure &amp; Arrival Time/Delay</a:t>
            </a:r>
            <a:r>
              <a:rPr lang="en-US" altLang="en-US" sz="2000" dirty="0">
                <a:latin typeface="Times New Roman" panose="02020603050405020304" pitchFamily="18" charset="0"/>
                <a:cs typeface="Times New Roman" panose="02020603050405020304" pitchFamily="18" charset="0"/>
              </a:rPr>
              <a:t> – performance indicators.</a:t>
            </a:r>
          </a:p>
          <a:p>
            <a:pPr lvl="0" algn="just" defTabSz="914400" eaLnBrk="0" fontAlgn="base" hangingPunct="0">
              <a:lnSpc>
                <a:spcPct val="15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Cancelled Flights, Distance, Route</a:t>
            </a:r>
            <a:r>
              <a:rPr lang="en-US" altLang="en-US" sz="2000" dirty="0">
                <a:latin typeface="Times New Roman" panose="02020603050405020304" pitchFamily="18" charset="0"/>
                <a:cs typeface="Times New Roman" panose="02020603050405020304" pitchFamily="18" charset="0"/>
              </a:rPr>
              <a:t> – efficiency and reliability metrics.</a:t>
            </a:r>
          </a:p>
          <a:p>
            <a:pPr lvl="0" algn="just" defTabSz="914400" eaLnBrk="0" fontAlgn="base" hangingPunct="0">
              <a:lnSpc>
                <a:spcPct val="15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Aircraft Type &amp; Tail Number</a:t>
            </a:r>
            <a:r>
              <a:rPr lang="en-US" altLang="en-US" sz="2000" dirty="0">
                <a:latin typeface="Times New Roman" panose="02020603050405020304" pitchFamily="18" charset="0"/>
                <a:cs typeface="Times New Roman" panose="02020603050405020304" pitchFamily="18" charset="0"/>
              </a:rPr>
              <a:t> – equipment and operational data.</a:t>
            </a:r>
          </a:p>
        </p:txBody>
      </p:sp>
      <p:pic>
        <p:nvPicPr>
          <p:cNvPr id="2053" name="Picture 5" descr="Airlines Background Images, HD Pictures ...">
            <a:extLst>
              <a:ext uri="{FF2B5EF4-FFF2-40B4-BE49-F238E27FC236}">
                <a16:creationId xmlns:a16="http://schemas.microsoft.com/office/drawing/2014/main" id="{9CA1A8D9-7E80-3119-0AC1-620A7AB79F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371" y="4416095"/>
            <a:ext cx="3955641" cy="221515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CE2FAC60-FAF6-1872-FD2B-1065674BCBF7}"/>
              </a:ext>
            </a:extLst>
          </p:cNvPr>
          <p:cNvPicPr>
            <a:picLocks noChangeAspect="1"/>
          </p:cNvPicPr>
          <p:nvPr/>
        </p:nvPicPr>
        <p:blipFill>
          <a:blip r:embed="rId3"/>
          <a:stretch>
            <a:fillRect/>
          </a:stretch>
        </p:blipFill>
        <p:spPr>
          <a:xfrm>
            <a:off x="5220929" y="1690687"/>
            <a:ext cx="6744929" cy="2448693"/>
          </a:xfrm>
          <a:prstGeom prst="rect">
            <a:avLst/>
          </a:prstGeom>
        </p:spPr>
      </p:pic>
    </p:spTree>
    <p:extLst>
      <p:ext uri="{BB962C8B-B14F-4D97-AF65-F5344CB8AC3E}">
        <p14:creationId xmlns:p14="http://schemas.microsoft.com/office/powerpoint/2010/main" val="2855532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D4D47-91C8-927F-B95A-32B9CC95E656}"/>
              </a:ext>
            </a:extLst>
          </p:cNvPr>
          <p:cNvSpPr>
            <a:spLocks noGrp="1"/>
          </p:cNvSpPr>
          <p:nvPr>
            <p:ph type="title"/>
          </p:nvPr>
        </p:nvSpPr>
        <p:spPr>
          <a:xfrm>
            <a:off x="474406" y="256971"/>
            <a:ext cx="10515600" cy="1325563"/>
          </a:xfrm>
        </p:spPr>
        <p:txBody>
          <a:bodyPr>
            <a:normAutofit/>
          </a:bodyPr>
          <a:lstStyle/>
          <a:p>
            <a:pPr>
              <a:lnSpc>
                <a:spcPct val="150000"/>
              </a:lnSpc>
            </a:pPr>
            <a:r>
              <a:rPr lang="en-US" sz="4400" b="1" dirty="0">
                <a:latin typeface="Times New Roman" panose="02020603050405020304" pitchFamily="18" charset="0"/>
                <a:cs typeface="Times New Roman" panose="02020603050405020304" pitchFamily="18" charset="0"/>
              </a:rPr>
              <a:t>Average of Departure Delay</a:t>
            </a:r>
            <a:endParaRPr lang="en-IN" sz="4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36B2E21-76CA-80AD-50F8-AB7CFD9B8161}"/>
              </a:ext>
            </a:extLst>
          </p:cNvPr>
          <p:cNvSpPr txBox="1"/>
          <p:nvPr/>
        </p:nvSpPr>
        <p:spPr>
          <a:xfrm>
            <a:off x="474406" y="2290916"/>
            <a:ext cx="5621594" cy="3730317"/>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chart compares the average departure delays across different airlines, helping identify which carriers tend to be more punctual or prone to delays.</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horizontal bar chart format is used, with airline codes on the y-axis and average delay times (in minutes) on the x-axis, making it easy to scan and compare delay levels side by side.</a:t>
            </a:r>
            <a:endParaRPr lang="en-IN" sz="2000" dirty="0">
              <a:latin typeface="Times New Roman" panose="02020603050405020304" pitchFamily="18" charset="0"/>
              <a:cs typeface="Times New Roman" panose="02020603050405020304" pitchFamily="18" charset="0"/>
            </a:endParaRPr>
          </a:p>
        </p:txBody>
      </p:sp>
      <p:pic>
        <p:nvPicPr>
          <p:cNvPr id="11" name="Picture 10" descr="A graph with orange bars">
            <a:extLst>
              <a:ext uri="{FF2B5EF4-FFF2-40B4-BE49-F238E27FC236}">
                <a16:creationId xmlns:a16="http://schemas.microsoft.com/office/drawing/2014/main" id="{E2A5FE42-D263-8152-904A-EE950265A6C4}"/>
              </a:ext>
            </a:extLst>
          </p:cNvPr>
          <p:cNvPicPr>
            <a:picLocks noChangeAspect="1"/>
          </p:cNvPicPr>
          <p:nvPr/>
        </p:nvPicPr>
        <p:blipFill>
          <a:blip r:embed="rId2"/>
          <a:stretch>
            <a:fillRect/>
          </a:stretch>
        </p:blipFill>
        <p:spPr>
          <a:xfrm>
            <a:off x="6225023" y="2212257"/>
            <a:ext cx="5492571" cy="3808975"/>
          </a:xfrm>
          <a:prstGeom prst="rect">
            <a:avLst/>
          </a:prstGeom>
        </p:spPr>
      </p:pic>
    </p:spTree>
    <p:extLst>
      <p:ext uri="{BB962C8B-B14F-4D97-AF65-F5344CB8AC3E}">
        <p14:creationId xmlns:p14="http://schemas.microsoft.com/office/powerpoint/2010/main" val="3108467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1031E-6669-2F7E-9F4C-250EFA564841}"/>
              </a:ext>
            </a:extLst>
          </p:cNvPr>
          <p:cNvSpPr>
            <a:spLocks noGrp="1"/>
          </p:cNvSpPr>
          <p:nvPr>
            <p:ph type="title"/>
          </p:nvPr>
        </p:nvSpPr>
        <p:spPr/>
        <p:txBody>
          <a:bodyPr>
            <a:normAutofit/>
          </a:bodyPr>
          <a:lstStyle/>
          <a:p>
            <a:pPr>
              <a:lnSpc>
                <a:spcPct val="150000"/>
              </a:lnSpc>
            </a:pPr>
            <a:r>
              <a:rPr lang="en-IN" sz="4400" b="1" dirty="0">
                <a:latin typeface="Times New Roman" panose="02020603050405020304" pitchFamily="18" charset="0"/>
                <a:cs typeface="Times New Roman" panose="02020603050405020304" pitchFamily="18" charset="0"/>
              </a:rPr>
              <a:t>Flights Cancelled by Origin</a:t>
            </a:r>
          </a:p>
        </p:txBody>
      </p:sp>
      <p:sp>
        <p:nvSpPr>
          <p:cNvPr id="5" name="TextBox 4">
            <a:extLst>
              <a:ext uri="{FF2B5EF4-FFF2-40B4-BE49-F238E27FC236}">
                <a16:creationId xmlns:a16="http://schemas.microsoft.com/office/drawing/2014/main" id="{D7B30D31-8408-0710-7D87-BD88A967A674}"/>
              </a:ext>
            </a:extLst>
          </p:cNvPr>
          <p:cNvSpPr txBox="1"/>
          <p:nvPr/>
        </p:nvSpPr>
        <p:spPr>
          <a:xfrm>
            <a:off x="599768" y="1936957"/>
            <a:ext cx="5378246" cy="4653646"/>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chart compares flight volume, cancellations, and cancellation rates across various origin airports, offering a multi-dimensional view of airport reliability.</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Each airport is represented by three bars—blue for total flights, orange for number of cancellations, and gray for average percentage cancelled—allowing quick visual comparison of both absolute and relative cancellation metrics.</a:t>
            </a:r>
            <a:endParaRPr lang="en-IN" sz="2000" dirty="0">
              <a:latin typeface="Times New Roman" panose="02020603050405020304" pitchFamily="18" charset="0"/>
              <a:cs typeface="Times New Roman" panose="02020603050405020304" pitchFamily="18" charset="0"/>
            </a:endParaRPr>
          </a:p>
        </p:txBody>
      </p:sp>
      <p:pic>
        <p:nvPicPr>
          <p:cNvPr id="8" name="Picture 7" descr="A screen shot of a graph">
            <a:extLst>
              <a:ext uri="{FF2B5EF4-FFF2-40B4-BE49-F238E27FC236}">
                <a16:creationId xmlns:a16="http://schemas.microsoft.com/office/drawing/2014/main" id="{0557BCD3-05BA-1758-F881-CA10DCBFCE29}"/>
              </a:ext>
            </a:extLst>
          </p:cNvPr>
          <p:cNvPicPr>
            <a:picLocks noChangeAspect="1"/>
          </p:cNvPicPr>
          <p:nvPr/>
        </p:nvPicPr>
        <p:blipFill>
          <a:blip r:embed="rId2"/>
          <a:stretch>
            <a:fillRect/>
          </a:stretch>
        </p:blipFill>
        <p:spPr>
          <a:xfrm>
            <a:off x="6213988" y="1936957"/>
            <a:ext cx="5850193" cy="4653646"/>
          </a:xfrm>
          <a:prstGeom prst="rect">
            <a:avLst/>
          </a:prstGeom>
        </p:spPr>
      </p:pic>
    </p:spTree>
    <p:extLst>
      <p:ext uri="{BB962C8B-B14F-4D97-AF65-F5344CB8AC3E}">
        <p14:creationId xmlns:p14="http://schemas.microsoft.com/office/powerpoint/2010/main" val="64909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6E78F-C488-6CDA-80FE-A84CDD11187A}"/>
              </a:ext>
            </a:extLst>
          </p:cNvPr>
          <p:cNvSpPr>
            <a:spLocks noGrp="1"/>
          </p:cNvSpPr>
          <p:nvPr>
            <p:ph type="title"/>
          </p:nvPr>
        </p:nvSpPr>
        <p:spPr/>
        <p:txBody>
          <a:bodyPr>
            <a:normAutofit/>
          </a:bodyPr>
          <a:lstStyle/>
          <a:p>
            <a:pPr>
              <a:lnSpc>
                <a:spcPct val="150000"/>
              </a:lnSpc>
            </a:pPr>
            <a:r>
              <a:rPr lang="en-IN" sz="4400" dirty="0">
                <a:latin typeface="Times New Roman" panose="02020603050405020304" pitchFamily="18" charset="0"/>
                <a:cs typeface="Times New Roman" panose="02020603050405020304" pitchFamily="18" charset="0"/>
              </a:rPr>
              <a:t>Flight Cancelled Analysis</a:t>
            </a:r>
          </a:p>
        </p:txBody>
      </p:sp>
      <p:sp>
        <p:nvSpPr>
          <p:cNvPr id="3" name="Content Placeholder 2">
            <a:extLst>
              <a:ext uri="{FF2B5EF4-FFF2-40B4-BE49-F238E27FC236}">
                <a16:creationId xmlns:a16="http://schemas.microsoft.com/office/drawing/2014/main" id="{9BCAE84D-3D21-8A24-B656-6E40A3E171A3}"/>
              </a:ext>
            </a:extLst>
          </p:cNvPr>
          <p:cNvSpPr>
            <a:spLocks noGrp="1"/>
          </p:cNvSpPr>
          <p:nvPr>
            <p:ph idx="1"/>
          </p:nvPr>
        </p:nvSpPr>
        <p:spPr>
          <a:xfrm>
            <a:off x="323587" y="2141537"/>
            <a:ext cx="5418452" cy="3937716"/>
          </a:xfrm>
        </p:spPr>
        <p:style>
          <a:lnRef idx="1">
            <a:schemeClr val="accent2"/>
          </a:lnRef>
          <a:fillRef idx="2">
            <a:schemeClr val="accent2"/>
          </a:fillRef>
          <a:effectRef idx="1">
            <a:schemeClr val="accent2"/>
          </a:effectRef>
          <a:fontRef idx="minor">
            <a:schemeClr val="dk1"/>
          </a:fontRef>
        </p:style>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This chart compares the percentage of cancelled vs. non-cancelled flights across different airlines, offering a clear snapshot of airline reliability.</a:t>
            </a:r>
          </a:p>
          <a:p>
            <a:pPr algn="just">
              <a:lnSpc>
                <a:spcPct val="150000"/>
              </a:lnSpc>
            </a:pPr>
            <a:r>
              <a:rPr lang="en-US" sz="2000" dirty="0">
                <a:latin typeface="Times New Roman" panose="02020603050405020304" pitchFamily="18" charset="0"/>
                <a:cs typeface="Times New Roman" panose="02020603050405020304" pitchFamily="18" charset="0"/>
              </a:rPr>
              <a:t> Most airlines maintain cancellation rates below 10%, but MQ (~30%) and NK (~20%) stand out with significantly higher cancellation percentages, suggesting potential operational challenges.</a:t>
            </a:r>
          </a:p>
        </p:txBody>
      </p:sp>
      <p:sp>
        <p:nvSpPr>
          <p:cNvPr id="6" name="Rectangle 2">
            <a:extLst>
              <a:ext uri="{FF2B5EF4-FFF2-40B4-BE49-F238E27FC236}">
                <a16:creationId xmlns:a16="http://schemas.microsoft.com/office/drawing/2014/main" id="{532DC42B-24F9-08ED-8D4E-308709DFFC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Most airlines maintain cancellation rates below 10%, but MQ (~30%) and NK (~20%) stand out with significantly higher cancellation percentages, suggesting potential operational challenges.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Picture 6" descr="A graph of a number of bars">
            <a:extLst>
              <a:ext uri="{FF2B5EF4-FFF2-40B4-BE49-F238E27FC236}">
                <a16:creationId xmlns:a16="http://schemas.microsoft.com/office/drawing/2014/main" id="{816F1389-AF90-1C49-E633-F19968533162}"/>
              </a:ext>
            </a:extLst>
          </p:cNvPr>
          <p:cNvPicPr>
            <a:picLocks noChangeAspect="1"/>
          </p:cNvPicPr>
          <p:nvPr/>
        </p:nvPicPr>
        <p:blipFill>
          <a:blip r:embed="rId2"/>
          <a:stretch>
            <a:fillRect/>
          </a:stretch>
        </p:blipFill>
        <p:spPr>
          <a:xfrm>
            <a:off x="5901436" y="2141537"/>
            <a:ext cx="5966977" cy="3937713"/>
          </a:xfrm>
          <a:prstGeom prst="rect">
            <a:avLst/>
          </a:prstGeom>
        </p:spPr>
      </p:pic>
    </p:spTree>
    <p:extLst>
      <p:ext uri="{BB962C8B-B14F-4D97-AF65-F5344CB8AC3E}">
        <p14:creationId xmlns:p14="http://schemas.microsoft.com/office/powerpoint/2010/main" val="1474268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F6EF9-0787-1F55-8034-41487B678159}"/>
              </a:ext>
            </a:extLst>
          </p:cNvPr>
          <p:cNvSpPr>
            <a:spLocks noGrp="1"/>
          </p:cNvSpPr>
          <p:nvPr>
            <p:ph type="title"/>
          </p:nvPr>
        </p:nvSpPr>
        <p:spPr>
          <a:xfrm>
            <a:off x="503904" y="384790"/>
            <a:ext cx="10515600" cy="1325563"/>
          </a:xfrm>
        </p:spPr>
        <p:txBody>
          <a:bodyPr>
            <a:normAutofit/>
          </a:bodyPr>
          <a:lstStyle/>
          <a:p>
            <a:pPr>
              <a:lnSpc>
                <a:spcPct val="150000"/>
              </a:lnSpc>
            </a:pPr>
            <a:r>
              <a:rPr lang="en-US" sz="4400" b="1" dirty="0">
                <a:latin typeface="Times New Roman" panose="02020603050405020304" pitchFamily="18" charset="0"/>
                <a:cs typeface="Times New Roman" panose="02020603050405020304" pitchFamily="18" charset="0"/>
              </a:rPr>
              <a:t>Average Air Time of Airlines</a:t>
            </a:r>
            <a:endParaRPr lang="en-IN" sz="44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0BDF8F9-920E-2DAA-1B2C-E42601C62DA4}"/>
              </a:ext>
            </a:extLst>
          </p:cNvPr>
          <p:cNvSpPr>
            <a:spLocks noGrp="1" noChangeArrowheads="1"/>
          </p:cNvSpPr>
          <p:nvPr>
            <p:ph idx="1"/>
          </p:nvPr>
        </p:nvSpPr>
        <p:spPr bwMode="auto">
          <a:xfrm>
            <a:off x="503904" y="2349171"/>
            <a:ext cx="4896566" cy="3730317"/>
          </a:xfrm>
          <a:prstGeom prst="rect">
            <a:avLst/>
          </a:prstGeom>
          <a:ln>
            <a:solidFill>
              <a:schemeClr val="bg1"/>
            </a:solidFill>
          </a:ln>
        </p:spPr>
        <p:style>
          <a:lnRef idx="2">
            <a:schemeClr val="accent5">
              <a:shade val="15000"/>
            </a:schemeClr>
          </a:lnRef>
          <a:fillRef idx="1">
            <a:schemeClr val="accent5"/>
          </a:fillRef>
          <a:effectRef idx="0">
            <a:schemeClr val="accent5"/>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normalizeH="0" baseline="0" dirty="0">
                <a:solidFill>
                  <a:schemeClr val="bg1"/>
                </a:solidFill>
                <a:latin typeface="Times New Roman" panose="02020603050405020304" pitchFamily="18" charset="0"/>
                <a:cs typeface="Times New Roman" panose="02020603050405020304" pitchFamily="18" charset="0"/>
              </a:rPr>
              <a:t>The chart shows the </a:t>
            </a:r>
            <a:r>
              <a:rPr kumimoji="0" lang="en-US" altLang="en-US" sz="2000" i="1" u="none" strike="noStrike" normalizeH="0" baseline="0" dirty="0">
                <a:solidFill>
                  <a:schemeClr val="bg1"/>
                </a:solidFill>
                <a:latin typeface="Times New Roman" panose="02020603050405020304" pitchFamily="18" charset="0"/>
                <a:cs typeface="Times New Roman" panose="02020603050405020304" pitchFamily="18" charset="0"/>
              </a:rPr>
              <a:t>average air time</a:t>
            </a:r>
            <a:r>
              <a:rPr kumimoji="0" lang="en-US" altLang="en-US" sz="2000" i="0" u="none" strike="noStrike" normalizeH="0" baseline="0" dirty="0">
                <a:solidFill>
                  <a:schemeClr val="bg1"/>
                </a:solidFill>
                <a:latin typeface="Times New Roman" panose="02020603050405020304" pitchFamily="18" charset="0"/>
                <a:cs typeface="Times New Roman" panose="02020603050405020304" pitchFamily="18" charset="0"/>
              </a:rPr>
              <a:t> (in minutes) for flights operated by different airlines.</a:t>
            </a:r>
          </a:p>
          <a:p>
            <a:pPr marL="0" lvl="0" indent="0" algn="just" eaLnBrk="0" fontAlgn="base" hangingPunct="0">
              <a:lnSpc>
                <a:spcPct val="150000"/>
              </a:lnSpc>
              <a:spcBef>
                <a:spcPct val="0"/>
              </a:spcBef>
              <a:spcAft>
                <a:spcPct val="0"/>
              </a:spcAft>
              <a:buFontTx/>
              <a:buChar char="•"/>
            </a:pPr>
            <a:r>
              <a:rPr lang="en-US" sz="2000" dirty="0">
                <a:solidFill>
                  <a:schemeClr val="bg1"/>
                </a:solidFill>
                <a:latin typeface="Times New Roman" panose="02020603050405020304" pitchFamily="18" charset="0"/>
                <a:cs typeface="Times New Roman" panose="02020603050405020304" pitchFamily="18" charset="0"/>
              </a:rPr>
              <a:t>Airlines like HA and B6 have longer average air times, suggesting more long-haul routes, while MQ and OO show shorter durations, likely due to regional operations.</a:t>
            </a:r>
            <a:r>
              <a:rPr kumimoji="0" lang="en-US" altLang="en-US" sz="2000" i="0" u="none" strike="noStrike" normalizeH="0" baseline="0" dirty="0">
                <a:solidFill>
                  <a:schemeClr val="bg1"/>
                </a:solidFill>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000" i="0" u="none" strike="noStrike" normalizeH="0" baseline="0" dirty="0">
              <a:solidFill>
                <a:schemeClr val="bg1"/>
              </a:solidFill>
              <a:latin typeface="Times New Roman" panose="02020603050405020304" pitchFamily="18" charset="0"/>
              <a:cs typeface="Times New Roman" panose="02020603050405020304" pitchFamily="18" charset="0"/>
            </a:endParaRPr>
          </a:p>
        </p:txBody>
      </p:sp>
      <p:pic>
        <p:nvPicPr>
          <p:cNvPr id="7" name="Picture 6" descr="A graph with orange bars">
            <a:extLst>
              <a:ext uri="{FF2B5EF4-FFF2-40B4-BE49-F238E27FC236}">
                <a16:creationId xmlns:a16="http://schemas.microsoft.com/office/drawing/2014/main" id="{7BA61296-96F2-702B-39A4-C759F0112CCE}"/>
              </a:ext>
            </a:extLst>
          </p:cNvPr>
          <p:cNvPicPr>
            <a:picLocks noChangeAspect="1"/>
          </p:cNvPicPr>
          <p:nvPr/>
        </p:nvPicPr>
        <p:blipFill>
          <a:blip r:embed="rId2"/>
          <a:stretch>
            <a:fillRect/>
          </a:stretch>
        </p:blipFill>
        <p:spPr>
          <a:xfrm>
            <a:off x="5622050" y="2349171"/>
            <a:ext cx="6255318" cy="3730316"/>
          </a:xfrm>
          <a:prstGeom prst="rect">
            <a:avLst/>
          </a:prstGeom>
        </p:spPr>
      </p:pic>
    </p:spTree>
    <p:extLst>
      <p:ext uri="{BB962C8B-B14F-4D97-AF65-F5344CB8AC3E}">
        <p14:creationId xmlns:p14="http://schemas.microsoft.com/office/powerpoint/2010/main" val="2512118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14CE3-FD94-2FB9-6966-84A015560A03}"/>
              </a:ext>
            </a:extLst>
          </p:cNvPr>
          <p:cNvSpPr>
            <a:spLocks noGrp="1"/>
          </p:cNvSpPr>
          <p:nvPr>
            <p:ph type="title"/>
          </p:nvPr>
        </p:nvSpPr>
        <p:spPr>
          <a:xfrm>
            <a:off x="167149" y="148817"/>
            <a:ext cx="11798710" cy="775415"/>
          </a:xfrm>
        </p:spPr>
        <p:txBody>
          <a:bodyPr>
            <a:normAutofit fontScale="90000"/>
          </a:bodyPr>
          <a:lstStyle/>
          <a:p>
            <a:pPr algn="just">
              <a:lnSpc>
                <a:spcPct val="150000"/>
              </a:lnSpc>
            </a:pPr>
            <a:r>
              <a:rPr lang="en-US" sz="4400" b="1" dirty="0">
                <a:latin typeface="Times New Roman" panose="02020603050405020304" pitchFamily="18" charset="0"/>
                <a:cs typeface="Times New Roman" panose="02020603050405020304" pitchFamily="18" charset="0"/>
              </a:rPr>
              <a:t>No. of Flights per Origin Airport</a:t>
            </a:r>
            <a:endParaRPr lang="en-IN" sz="4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7E4029C-1F3B-CE65-C32F-F733A6A2222F}"/>
              </a:ext>
            </a:extLst>
          </p:cNvPr>
          <p:cNvSpPr>
            <a:spLocks noGrp="1"/>
          </p:cNvSpPr>
          <p:nvPr>
            <p:ph idx="1"/>
          </p:nvPr>
        </p:nvSpPr>
        <p:spPr>
          <a:xfrm>
            <a:off x="167149" y="4520377"/>
            <a:ext cx="11798710" cy="2303207"/>
          </a:xfrm>
        </p:spPr>
        <p:style>
          <a:lnRef idx="1">
            <a:schemeClr val="accent5"/>
          </a:lnRef>
          <a:fillRef idx="2">
            <a:schemeClr val="accent5"/>
          </a:fillRef>
          <a:effectRef idx="1">
            <a:schemeClr val="accent5"/>
          </a:effectRef>
          <a:fontRef idx="minor">
            <a:schemeClr val="dk1"/>
          </a:fontRef>
        </p:style>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chart shows the count of "DIST_NUMBER" across various origin airports, with each airport represented by a group of color-coded bars.</a:t>
            </a:r>
          </a:p>
          <a:p>
            <a:pPr algn="just">
              <a:lnSpc>
                <a:spcPct val="150000"/>
              </a:lnSpc>
            </a:pPr>
            <a:r>
              <a:rPr lang="en-US" sz="2000" dirty="0">
                <a:latin typeface="Times New Roman" panose="02020603050405020304" pitchFamily="18" charset="0"/>
                <a:cs typeface="Times New Roman" panose="02020603050405020304" pitchFamily="18" charset="0"/>
              </a:rPr>
              <a:t>Airports like ATL and DEN have taller bar clusters, suggesting higher overall counts and broader category distribution, while others show fewer or more concentrated category activity.</a:t>
            </a:r>
            <a:endParaRPr lang="en-IN" sz="2000" dirty="0">
              <a:latin typeface="Times New Roman" panose="02020603050405020304" pitchFamily="18" charset="0"/>
              <a:cs typeface="Times New Roman" panose="02020603050405020304" pitchFamily="18" charset="0"/>
            </a:endParaRPr>
          </a:p>
        </p:txBody>
      </p:sp>
      <p:pic>
        <p:nvPicPr>
          <p:cNvPr id="6" name="Picture 5" descr="A close-up of a graph">
            <a:extLst>
              <a:ext uri="{FF2B5EF4-FFF2-40B4-BE49-F238E27FC236}">
                <a16:creationId xmlns:a16="http://schemas.microsoft.com/office/drawing/2014/main" id="{E13F5DCB-0603-5383-FCDF-6F67B1D91FDB}"/>
              </a:ext>
            </a:extLst>
          </p:cNvPr>
          <p:cNvPicPr>
            <a:picLocks noChangeAspect="1"/>
          </p:cNvPicPr>
          <p:nvPr/>
        </p:nvPicPr>
        <p:blipFill>
          <a:blip r:embed="rId2"/>
          <a:stretch>
            <a:fillRect/>
          </a:stretch>
        </p:blipFill>
        <p:spPr>
          <a:xfrm>
            <a:off x="167149" y="1151127"/>
            <a:ext cx="11798710" cy="3224228"/>
          </a:xfrm>
          <a:prstGeom prst="rect">
            <a:avLst/>
          </a:prstGeom>
        </p:spPr>
      </p:pic>
    </p:spTree>
    <p:extLst>
      <p:ext uri="{BB962C8B-B14F-4D97-AF65-F5344CB8AC3E}">
        <p14:creationId xmlns:p14="http://schemas.microsoft.com/office/powerpoint/2010/main" val="4129303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95648FB-801B-B5F3-B56E-772823DF0A8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90918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998ED-8DAC-C7BD-2079-421C614624BF}"/>
              </a:ext>
            </a:extLst>
          </p:cNvPr>
          <p:cNvSpPr>
            <a:spLocks noGrp="1"/>
          </p:cNvSpPr>
          <p:nvPr>
            <p:ph type="title"/>
          </p:nvPr>
        </p:nvSpPr>
        <p:spPr>
          <a:xfrm>
            <a:off x="136775" y="512609"/>
            <a:ext cx="10515600" cy="1325563"/>
          </a:xfrm>
        </p:spPr>
        <p:txBody>
          <a:bodyPr>
            <a:normAutofit/>
          </a:bodyPr>
          <a:lstStyle/>
          <a:p>
            <a:r>
              <a:rPr lang="en-US" sz="4400" dirty="0">
                <a:latin typeface="Times New Roman" panose="02020603050405020304" pitchFamily="18" charset="0"/>
                <a:cs typeface="Times New Roman" panose="02020603050405020304" pitchFamily="18" charset="0"/>
              </a:rPr>
              <a:t>Key Insights</a:t>
            </a:r>
            <a:endParaRPr lang="en-IN" sz="44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AC99760-9090-C086-A7B9-297B445E7911}"/>
              </a:ext>
            </a:extLst>
          </p:cNvPr>
          <p:cNvSpPr>
            <a:spLocks noGrp="1" noChangeArrowheads="1"/>
          </p:cNvSpPr>
          <p:nvPr>
            <p:ph idx="1"/>
          </p:nvPr>
        </p:nvSpPr>
        <p:spPr bwMode="auto">
          <a:xfrm>
            <a:off x="136775" y="2151225"/>
            <a:ext cx="11809420" cy="4093428"/>
          </a:xfrm>
          <a:prstGeom prst="rect">
            <a:avLst/>
          </a:prstGeom>
          <a:gradFill flip="none"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path path="circle">
              <a:fillToRect l="50000" t="50000" r="50000" b="50000"/>
            </a:path>
            <a:tileRect/>
          </a:gradFill>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b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Cancellation rates vary notably across regions, indicating differences in operational efficiency and external factors.</a:t>
            </a:r>
            <a:b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Some airlines show consistently higher average delays, reflecting potential scheduling or resource management challenges.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b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Delays tend to fluctuate across different times of day, highlighting the influence of peak-hour traffic and congestion.</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b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Certain routes handle a significantly larger volume of flights, emphasizing key travel corridors in the network.</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b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Interactive slicers enable comparison of performance metrics by region, airline, and time, supporting quick and data-driven decisions.</a:t>
            </a:r>
          </a:p>
        </p:txBody>
      </p:sp>
    </p:spTree>
    <p:extLst>
      <p:ext uri="{BB962C8B-B14F-4D97-AF65-F5344CB8AC3E}">
        <p14:creationId xmlns:p14="http://schemas.microsoft.com/office/powerpoint/2010/main" val="1761968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BE2B1-159A-735D-D62B-5AE7C0A8DC70}"/>
              </a:ext>
            </a:extLst>
          </p:cNvPr>
          <p:cNvSpPr>
            <a:spLocks noGrp="1"/>
          </p:cNvSpPr>
          <p:nvPr>
            <p:ph type="title"/>
          </p:nvPr>
        </p:nvSpPr>
        <p:spPr>
          <a:xfrm>
            <a:off x="326923" y="131754"/>
            <a:ext cx="10515600" cy="1325563"/>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Recommendations</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4074CFC8-7961-53DB-EF08-83A5057C841F}"/>
              </a:ext>
            </a:extLst>
          </p:cNvPr>
          <p:cNvSpPr>
            <a:spLocks noGrp="1" noChangeArrowheads="1"/>
          </p:cNvSpPr>
          <p:nvPr>
            <p:ph idx="1"/>
          </p:nvPr>
        </p:nvSpPr>
        <p:spPr bwMode="auto">
          <a:xfrm>
            <a:off x="238433" y="1555637"/>
            <a:ext cx="5572431" cy="5028556"/>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Enhancing Scheduling Efficiency:</a:t>
            </a:r>
            <a:b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Utilizing delay trend analysis to adjust flight schedules during peak hours and minimize congestion-related delays.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Monitoring and Address High-Risk Areas:</a:t>
            </a:r>
            <a:b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Identifying regions, routes, or airlines with frequent disruptions and implement targeted operational improvements.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Strengthening Data Collection and Analysis:</a:t>
            </a:r>
            <a:b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Incorporating more detailed operational and weather data to gain deeper insights and improve future predictive accuracy.</a:t>
            </a:r>
          </a:p>
        </p:txBody>
      </p:sp>
      <p:pic>
        <p:nvPicPr>
          <p:cNvPr id="6147" name="Picture 3" descr="Conclusions and recommendations Images ...">
            <a:extLst>
              <a:ext uri="{FF2B5EF4-FFF2-40B4-BE49-F238E27FC236}">
                <a16:creationId xmlns:a16="http://schemas.microsoft.com/office/drawing/2014/main" id="{A0D9489A-D5E6-0B67-87EA-A766CCC856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3752" y="2192233"/>
            <a:ext cx="4166828" cy="26786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768579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6205C-5D2A-A04A-AACB-D87C0450889E}"/>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Conclusion</a:t>
            </a:r>
            <a:endParaRPr lang="en-IN" sz="44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4D4C12F-99C0-FDE7-2BE0-5ECB63B2F8BF}"/>
              </a:ext>
            </a:extLst>
          </p:cNvPr>
          <p:cNvSpPr>
            <a:spLocks noGrp="1" noChangeArrowheads="1"/>
          </p:cNvSpPr>
          <p:nvPr>
            <p:ph idx="1"/>
          </p:nvPr>
        </p:nvSpPr>
        <p:spPr bwMode="auto">
          <a:xfrm>
            <a:off x="238080" y="1939820"/>
            <a:ext cx="6103726" cy="4197559"/>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Flight delays and cancellations show clear patterns across regions, airlines, and peak time periods, emphasizing areas for operational focus.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Pivot table and dashboard analysis provided actionable insights into high-risk routes, scheduling bottlenecks, and airline performance differences.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Applying targeted scheduling improvements, monitoring critical routes, and leveraging interactive dashboards can significantly enhance punctuality and overall operational efficiency.</a:t>
            </a:r>
          </a:p>
        </p:txBody>
      </p:sp>
      <p:pic>
        <p:nvPicPr>
          <p:cNvPr id="7171" name="Picture 3" descr="Conclusion Images - Free Download on ...">
            <a:extLst>
              <a:ext uri="{FF2B5EF4-FFF2-40B4-BE49-F238E27FC236}">
                <a16:creationId xmlns:a16="http://schemas.microsoft.com/office/drawing/2014/main" id="{F81FD613-8360-4D68-BEDD-ECA1E9F1A4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8705" y="2431179"/>
            <a:ext cx="4025301" cy="29765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669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81900-86D6-9C9E-711F-4094E758DC0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6BCAA12-834D-0794-4949-C464A7F1C9B8}"/>
              </a:ext>
            </a:extLst>
          </p:cNvPr>
          <p:cNvSpPr>
            <a:spLocks noGrp="1"/>
          </p:cNvSpPr>
          <p:nvPr>
            <p:ph idx="1"/>
          </p:nvPr>
        </p:nvSpPr>
        <p:spPr/>
        <p:txBody>
          <a:bodyPr/>
          <a:lstStyle/>
          <a:p>
            <a:endParaRPr lang="en-IN"/>
          </a:p>
        </p:txBody>
      </p:sp>
      <p:pic>
        <p:nvPicPr>
          <p:cNvPr id="9218" name="Picture 2" descr="Thank you card stock illustration ...">
            <a:extLst>
              <a:ext uri="{FF2B5EF4-FFF2-40B4-BE49-F238E27FC236}">
                <a16:creationId xmlns:a16="http://schemas.microsoft.com/office/drawing/2014/main" id="{488F3A54-C9F1-8B88-2173-53F9C88DE6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22"/>
            <a:ext cx="12192000" cy="6854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994081"/>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docProps/app.xml><?xml version="1.0" encoding="utf-8"?>
<Properties xmlns="http://schemas.openxmlformats.org/officeDocument/2006/extended-properties" xmlns:vt="http://schemas.openxmlformats.org/officeDocument/2006/docPropsVTypes">
  <Template>TM04033923[[fn=Depth]]</Template>
  <TotalTime>190</TotalTime>
  <Words>974</Words>
  <Application>Microsoft Office PowerPoint</Application>
  <PresentationFormat>Widescreen</PresentationFormat>
  <Paragraphs>56</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Corbel</vt:lpstr>
      <vt:lpstr>Times New Roman</vt:lpstr>
      <vt:lpstr>Wingdings</vt:lpstr>
      <vt:lpstr>Depth</vt:lpstr>
      <vt:lpstr>DEBARUN BANERJEE Data Analytics Batch: WTS-ACDMY-7979-5280 Student ID: WAPL30052520769</vt:lpstr>
      <vt:lpstr>Introduction</vt:lpstr>
      <vt:lpstr>Problem Statements</vt:lpstr>
      <vt:lpstr>Objectives of the Analysis</vt:lpstr>
      <vt:lpstr>About the Dataset</vt:lpstr>
      <vt:lpstr>Average of Departure Delay</vt:lpstr>
      <vt:lpstr>Flights Cancelled by Origin</vt:lpstr>
      <vt:lpstr>Flight Cancelled Analysis</vt:lpstr>
      <vt:lpstr>Average Air Time of Airlines</vt:lpstr>
      <vt:lpstr>No. of Flights per Origin Airport</vt:lpstr>
      <vt:lpstr>PowerPoint Presentation</vt:lpstr>
      <vt:lpstr>Key Insights</vt:lpstr>
      <vt:lpstr>Recommendations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Debarun Banerjee</dc:creator>
  <cp:lastModifiedBy>Debarun Banerjee</cp:lastModifiedBy>
  <cp:revision>36</cp:revision>
  <dcterms:created xsi:type="dcterms:W3CDTF">2025-10-16T06:03:10Z</dcterms:created>
  <dcterms:modified xsi:type="dcterms:W3CDTF">2025-12-12T09:20:45Z</dcterms:modified>
</cp:coreProperties>
</file>